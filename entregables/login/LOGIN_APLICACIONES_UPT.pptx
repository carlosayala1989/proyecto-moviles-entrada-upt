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7c7b05693e4240" /><Relationship Type="http://schemas.openxmlformats.org/officeDocument/2006/relationships/extended-properties" Target="/docProps/app.xml" Id="Rd435bbdda51f475c" /><Relationship Type="http://schemas.openxmlformats.org/officeDocument/2006/relationships/officeDocument" Target="/ppt/presentation.xml" Id="R6a0c2423e3d0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87c35494d54f18"/>
  </p:sldMasterIdLst>
  <p:notesMasterIdLst>
    <p:notesMasterId xmlns:r="http://schemas.openxmlformats.org/officeDocument/2006/relationships" r:id="R58f5e2dad0794a0a"/>
  </p:notesMasterIdLst>
  <p:sldIdLst>
    <p:sldId xmlns:r="http://schemas.openxmlformats.org/officeDocument/2006/relationships" id="256" r:id="Rc6c28a0d8d574217"/>
    <p:sldId xmlns:r="http://schemas.openxmlformats.org/officeDocument/2006/relationships" id="257" r:id="R73fbd95077e648a8"/>
    <p:sldId xmlns:r="http://schemas.openxmlformats.org/officeDocument/2006/relationships" id="258" r:id="R09bc2586dbed4ad2"/>
    <p:sldId xmlns:r="http://schemas.openxmlformats.org/officeDocument/2006/relationships" id="259" r:id="R6949b322910a4ba7"/>
    <p:sldId xmlns:r="http://schemas.openxmlformats.org/officeDocument/2006/relationships" id="260" r:id="Rd512934d05c14f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0a9204d564c70" /><Relationship Type="http://schemas.openxmlformats.org/officeDocument/2006/relationships/slideMaster" Target="/ppt/slideMasters/slideMaster1.xml" Id="R7a87c35494d54f18" /><Relationship Type="http://schemas.openxmlformats.org/officeDocument/2006/relationships/notesMaster" Target="/ppt/notesMasters/notesMaster1.xml" Id="R58f5e2dad0794a0a" /><Relationship Type="http://schemas.openxmlformats.org/officeDocument/2006/relationships/presProps" Target="/ppt/presProps.xml" Id="R33d32205b4e941d5" /><Relationship Type="http://schemas.openxmlformats.org/officeDocument/2006/relationships/tableStyles" Target="/ppt/tableStyles.xml" Id="R80e2cd982d64432f" /><Relationship Type="http://schemas.openxmlformats.org/officeDocument/2006/relationships/slide" Target="/ppt/slides/slide1.xml" Id="Rc6c28a0d8d574217" /><Relationship Type="http://schemas.openxmlformats.org/officeDocument/2006/relationships/slide" Target="/ppt/slides/slide2.xml" Id="R73fbd95077e648a8" /><Relationship Type="http://schemas.openxmlformats.org/officeDocument/2006/relationships/slide" Target="/ppt/slides/slide3.xml" Id="R09bc2586dbed4ad2" /><Relationship Type="http://schemas.openxmlformats.org/officeDocument/2006/relationships/slide" Target="/ppt/slides/slide4.xml" Id="R6949b322910a4ba7" /><Relationship Type="http://schemas.openxmlformats.org/officeDocument/2006/relationships/slide" Target="/ppt/slides/slide5.xml" Id="Rd512934d05c1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bbfd3512947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d56358fc854369" /><Relationship Type="http://schemas.openxmlformats.org/officeDocument/2006/relationships/notesMaster" Target="/ppt/notesMasters/notesMaster1.xml" Id="R096fa920c5624c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b913fda102462d" /><Relationship Type="http://schemas.openxmlformats.org/officeDocument/2006/relationships/notesMaster" Target="/ppt/notesMasters/notesMaster1.xml" Id="Rcfd9d07e032540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894d14f18f47d5" /><Relationship Type="http://schemas.openxmlformats.org/officeDocument/2006/relationships/notesMaster" Target="/ppt/notesMasters/notesMaster1.xml" Id="R73ff81419b954a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2aaa30dfd4377" /><Relationship Type="http://schemas.openxmlformats.org/officeDocument/2006/relationships/notesMaster" Target="/ppt/notesMasters/notesMaster1.xml" Id="R5d4f30b15d1149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c741cd2774753" /><Relationship Type="http://schemas.openxmlformats.org/officeDocument/2006/relationships/notesMaster" Target="/ppt/notesMasters/notesMaster1.xml" Id="R494dbff03ea940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la exposición: únicamente el inicio de sesión. Existen dos proyectos Flutter. seguridad_estudiante contiene el acceso institucional. seguridad_verificador contiene el formulario compartido de administrador y seguridad. La presentación trata los tres perfiles por separado y termina cuando se abre una sesión.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seguridad_estudiante/lib/main.dart y seguridad_verificador/lib/main.dart, commit 3d2e2ed.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alumno pulsa Ingresar o registrarme. La app pide una imagen CAPTCHA a la API. El servidor verifica el código, la contraseña numérica y el CAPTCHA contra la intranet. Solo si esta verificación resulta correcta se habilita continuar con Google. Ambos pasos son obligatorios. Se necesita internet.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repositorio, commit 3d2e2ed:</a:t>
            </a:r>
          </a:p>
          <a:p xmlns:a="http://schemas.openxmlformats.org/drawingml/2006/main">
            <a:r>
              <a:t>seguridad_estudiante/lib/pantallas/pantalla_verificacion_intranet.dart</a:t>
            </a:r>
          </a:p>
          <a:p xmlns:a="http://schemas.openxmlformats.org/drawingml/2006/main">
            <a:r>
              <a:t>api-backend-entrada-upt/src/modulos/registro_estudiante/servicios/intranet_upt.servicio.js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Flutter abre el navegador. Google devuelve el resultado al backend. La API comprueba el correo verificado, el dominio Workspace, la respuesta OAuth y la coincidencia del código y nombre con la intranet. El servidor registra o actualiza al estudiante y emite la sesión. Flutter consulta el resultado y la guarda en almacenamiento seguro. La contraseña Google se introduce en Google.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repositorio, commit 3d2e2ed:</a:t>
            </a:r>
          </a:p>
          <a:p xmlns:a="http://schemas.openxmlformats.org/drawingml/2006/main">
            <a:r>
              <a:t>seguridad_estudiante/lib/controladores/controlador_verificacion_intranet.dart</a:t>
            </a:r>
          </a:p>
          <a:p xmlns:a="http://schemas.openxmlformats.org/drawingml/2006/main">
            <a:r>
              <a:t>api-backend-entrada-upt/src/modulos/registro_estudiante/servicios/google_estudiante.servicio.js</a:t>
            </a:r>
          </a:p>
          <a:p xmlns:a="http://schemas.openxmlformats.org/drawingml/2006/main">
            <a:r>
              <a:t>paquetes/cliente_api_upt/lib/sesion/almacen_sesion_segura.dart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Administrador y seguridad utilizan el mismo proyecto Flutter y el mismo formulario. El servidor acepta código institucional o correo como identificador, compara la contraseña con el hash bcrypt y valida estado y autorización. La respuesta contiene tokens y roles. Flutter reconoce ADMINISTRADOR por los roles devueltos. La explicación termina en la sesión autenticada.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repositorio, commit 3d2e2ed:</a:t>
            </a:r>
          </a:p>
          <a:p xmlns:a="http://schemas.openxmlformats.org/drawingml/2006/main">
            <a:r>
              <a:t>seguridad_verificador/lib/pantallas/pantalla_inicio_sesion_seguridad.dart</a:t>
            </a:r>
          </a:p>
          <a:p xmlns:a="http://schemas.openxmlformats.org/drawingml/2006/main">
            <a:r>
              <a:t>seguridad_verificador/lib/aplicacion/aplicacion_seguridad.dart</a:t>
            </a:r>
          </a:p>
          <a:p xmlns:a="http://schemas.openxmlformats.org/drawingml/2006/main">
            <a:r>
              <a:t>api-backend-entrada-upt/src/modulos/autenticacion/servicios/autenticacion.servicio.js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el mismo formulario del administrador. La cuenta debe tener el rol SEGURIDAD para corresponder a ese perfil. La petición de login no recibe coordenadas. La app guarda la sesión en almacenamiento seguro. La API mantiene la validación de credenciales y permisos. La exposición termina al iniciar sesión.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repositorio, commit 3d2e2ed:</a:t>
            </a:r>
          </a:p>
          <a:p xmlns:a="http://schemas.openxmlformats.org/drawingml/2006/main">
            <a:r>
              <a:t>seguridad_verificador/lib/pantallas/pantalla_inicio_sesion_seguridad.dart</a:t>
            </a:r>
          </a:p>
          <a:p xmlns:a="http://schemas.openxmlformats.org/drawingml/2006/main">
            <a:r>
              <a:t>seguridad_verificador/lib/main.dart</a:t>
            </a:r>
          </a:p>
          <a:p xmlns:a="http://schemas.openxmlformats.org/drawingml/2006/main">
            <a:r>
              <a:t>api-backend-entrada-upt/src/modulos/autenticacion/servicios/autenticacion.servicio.js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31c1100df4f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b7c0a180d444d8" /><Relationship Type="http://schemas.openxmlformats.org/officeDocument/2006/relationships/slideLayout" Target="/ppt/slideLayouts/slideLayout1.xml" Id="R2cff6d4ddf9d42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ff6d4ddf9d42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5cf0e93904690" /><Relationship Type="http://schemas.openxmlformats.org/officeDocument/2006/relationships/notesSlide" Target="/ppt/notesSlides/notesSlide1.xml" Id="Rfe68bc907369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0479a658d4094" /><Relationship Type="http://schemas.openxmlformats.org/officeDocument/2006/relationships/notesSlide" Target="/ppt/notesSlides/notesSlide2.xml" Id="Rcb5f0343ca154c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7732eb0184dae" /><Relationship Type="http://schemas.openxmlformats.org/officeDocument/2006/relationships/notesSlide" Target="/ppt/notesSlides/notesSlide3.xml" Id="R53a038e39797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dce3588a84947" /><Relationship Type="http://schemas.openxmlformats.org/officeDocument/2006/relationships/notesSlide" Target="/ppt/notesSlides/notesSlide4.xml" Id="Rc7811c50743d4b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60adf71614b62" /><Relationship Type="http://schemas.openxmlformats.org/officeDocument/2006/relationships/notesSlide" Target="/ppt/notesSlides/notesSlide5.xml" Id="R76a0fc715bcd43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54EFF-6808-464F-ABE6-D9859249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609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495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Inicio de sesión</a:t>
            </a:r>
          </a:p>
          <a:p xmlns:a="http://schemas.openxmlformats.org/drawingml/2006/main">
            <a:pPr>
              <a:defRPr sz="495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495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Aplicaciones UPT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A9E20-B2DF-4937-8635-9B1ECA7D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547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Acceso para estudiantes,</a:t>
            </a:r>
          </a:p>
          <a:p xmlns:a="http://schemas.openxmlformats.org/drawingml/2006/main">
            <a:pPr>
              <a:defRPr sz="24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administración y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23CD5-356C-4CC0-A4B4-4C2A3D5A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525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82A3B"/>
                </a:solidFill>
                <a:latin typeface="Lato"/>
                <a:ea typeface="Lato"/>
                <a:cs typeface="Lato"/>
              </a:rPr>
              <a:t>Estudiante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87887-2756-43D9-B1B6-64B7D96C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Intranet UPT + Google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A5130-D91D-4F09-A7E6-5DC9A4A9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194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82A3B"/>
                </a:solidFill>
                <a:latin typeface="Lato"/>
                <a:ea typeface="Lato"/>
                <a:cs typeface="Lato"/>
              </a:rPr>
              <a:t>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E608F-B88E-4C08-A3D6-B9EDB2D3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909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Usuario + contraseña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6D23-04C4-4B31-AF6F-C8258697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82A3B"/>
                </a:solidFill>
                <a:latin typeface="Lato"/>
                <a:ea typeface="Lato"/>
                <a:cs typeface="Lato"/>
              </a:rPr>
              <a:t>Seguridad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E3655-D030-406F-B46A-680F03D2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578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Usuario + contraseña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F73D2-9420-4E8D-995B-A31638BE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1321431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7AE54-CCDA-407F-B39F-965879A7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Estudiante: intranet UPT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8A67B-9D39-4EEB-A098-E2DD28F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Paso 1 de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3B5DB-2C5C-41E4-984A-DDC1607C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AB57F-B393-4C36-9270-5307506E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980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Ingresa su código y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contraseña de intranet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4BE58-C770-4267-AA32-2DD2422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97122-F922-4F7A-AC2A-08678AAC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8612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Escribe el número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de la imagen CAPTCHA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341A6-3AFD-47FC-8B4B-0BC9F68C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A4001-D140-4100-BBDB-55E529A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La API confirma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su identidad en la intranet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37B70-104F-459E-B514-CB6369E0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Continúa con Google institucional.</a:t>
            </a:r>
          </a:p>
        </p:txBody>
      </p:sp>
      <p:sp>
        <p:nvSpPr>
          <p:cNvPr id="10" name="Captura 2">
            <a:extLst xmlns:a="http://schemas.openxmlformats.org/drawingml/2006/main">
              <a:ext uri="{FF2B5EF4-FFF2-40B4-BE49-F238E27FC236}">
                <a16:creationId xmlns:a16="http://schemas.microsoft.com/office/drawing/2014/main" id="{A5C0E778-A9A8-4BDB-9902-3A0F0F4B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51816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4288">
            <a:solidFill>
              <a:srgbClr val="B9C8D3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>
                <a:solidFill>
                  <a:srgbClr val="536678"/>
                </a:solidFill>
                <a:latin typeface="Lato"/>
                <a:ea typeface="Lato"/>
                <a:cs typeface="Lato"/>
              </a:rPr>
              <a:t>Espacio para tu captura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0F9F7-E684-4B8E-8B82-7E28A5DF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76925"/>
            <a:ext cx="518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Formulario de verificación de intranet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8CA70-19B8-414D-AD72-0E4370A4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2141284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6E140-8DC3-4384-9CBB-8926D32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Estudiante: Google institucional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C8EA6-609A-4BB6-B1EC-F2245303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Paso 2 de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4AE68-9DED-4D7C-BDEA-99B61EF9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AFC92-B4E2-4265-8DAF-B0B3085A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980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Elige su cuenta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@virtual.upt.pe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73845-EB2F-477E-8DBF-B8E28D12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0E7CB-D017-415B-AF06-6B653A3B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8612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La API compara Google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con el perfil de intranet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FEDE7-A489-4650-9F56-B6F7609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92314-07C7-47BD-9B3D-77B8C239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Si coinciden,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se inicia la sesión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CE06C-97CE-42C9-9F41-6678C025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La app guarda la sesión de forma segura.</a:t>
            </a:r>
          </a:p>
        </p:txBody>
      </p:sp>
      <p:sp>
        <p:nvSpPr>
          <p:cNvPr id="10" name="Captura 3">
            <a:extLst xmlns:a="http://schemas.openxmlformats.org/drawingml/2006/main">
              <a:ext uri="{FF2B5EF4-FFF2-40B4-BE49-F238E27FC236}">
                <a16:creationId xmlns:a16="http://schemas.microsoft.com/office/drawing/2014/main" id="{9E8C42FA-DF9C-42EA-A0F4-52F7DD9D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51816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4288">
            <a:solidFill>
              <a:srgbClr val="B9C8D3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>
                <a:solidFill>
                  <a:srgbClr val="536678"/>
                </a:solidFill>
                <a:latin typeface="Lato"/>
                <a:ea typeface="Lato"/>
                <a:cs typeface="Lato"/>
              </a:rPr>
              <a:t>Espacio para tu captura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C2340-A938-401B-9FF8-E0213722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76925"/>
            <a:ext cx="518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Acceso con la cuenta Google institucional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E7E3F-611E-426B-8859-CADF3935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1436291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6CEBB-C726-457B-8175-C0B1788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Administrador: usuario y contraseña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28CD9-353E-469D-B2CC-02B8FDB3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Cuenta del sistema con rol administrador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E797D-124A-4D68-B039-F48D8392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BCBED-7684-4028-A782-E837E138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980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Ingresa su usuario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o correo y contraseña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77723-0E03-4F1F-9A39-09455B4B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D8E51-3CAF-48C1-BC32-0033AEA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8612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La API verifica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las credenciales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65A14-FA67-414B-B439-FB236481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84C68-0ECD-493C-8418-E8B17F3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La app reconoce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el rol administrador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FF90A-9CE9-4733-893C-F022410C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Requiere una cuenta habilitada e internet.</a:t>
            </a:r>
          </a:p>
        </p:txBody>
      </p:sp>
      <p:sp>
        <p:nvSpPr>
          <p:cNvPr id="10" name="Captura 4">
            <a:extLst xmlns:a="http://schemas.openxmlformats.org/drawingml/2006/main">
              <a:ext uri="{FF2B5EF4-FFF2-40B4-BE49-F238E27FC236}">
                <a16:creationId xmlns:a16="http://schemas.microsoft.com/office/drawing/2014/main" id="{782DFDC0-47E8-45F3-9C1C-010E577A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51816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4288">
            <a:solidFill>
              <a:srgbClr val="B9C8D3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>
                <a:solidFill>
                  <a:srgbClr val="536678"/>
                </a:solidFill>
                <a:latin typeface="Lato"/>
                <a:ea typeface="Lato"/>
                <a:cs typeface="Lato"/>
              </a:rPr>
              <a:t>Espacio para tu captura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BBB26-1A92-4332-B301-62F5ED21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76925"/>
            <a:ext cx="518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Pantalla de login del administrador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0E44A-D850-4BAE-BA5B-EAFB9A10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1422356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9CC8F-B431-450D-8241-31F608B3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Seguridad: usuario y contraseña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B7B86-F657-4574-8108-5A247D97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536678"/>
                </a:solidFill>
                <a:latin typeface="Lato"/>
                <a:ea typeface="Lato"/>
                <a:cs typeface="Lato"/>
              </a:rPr>
              <a:t>Cuenta del sistema con rol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87AC6-2534-4DBA-A57B-0F30BA44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E2EE0-1181-46C6-9810-3BDE1986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980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Ingresa su usuario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o correo y contraseña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0EC51-8435-4B7B-9E0B-2479E49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55B62-B17E-49DD-8B0C-A501AF3A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8612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La API verifica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las credenciales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7896E-FB15-4CAA-BAE8-2419470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C83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315C83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9B9E4-5D09-43A2-A4D3-EBCB377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La app reconoce</a:t>
            </a:r>
          </a:p>
          <a:p xmlns:a="http://schemas.openxmlformats.org/drawingml/2006/main">
            <a:pPr>
              <a:defRPr sz="2325" b="0">
                <a:solidFill>
                  <a:srgbClr val="182A3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82A3B"/>
                </a:solidFill>
                <a:latin typeface="Lato"/>
                <a:ea typeface="Lato"/>
                <a:cs typeface="Lato"/>
              </a:rPr>
              <a:t>el rol seguridad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5FF14-8A9C-46E1-9C08-556B4930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Requiere una cuenta habilitada e internet.</a:t>
            </a:r>
          </a:p>
        </p:txBody>
      </p:sp>
      <p:sp>
        <p:nvSpPr>
          <p:cNvPr id="10" name="Captura 5">
            <a:extLst xmlns:a="http://schemas.openxmlformats.org/drawingml/2006/main">
              <a:ext uri="{FF2B5EF4-FFF2-40B4-BE49-F238E27FC236}">
                <a16:creationId xmlns:a16="http://schemas.microsoft.com/office/drawing/2014/main" id="{96FE303E-D780-450E-9EC5-88A9B6A7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51816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4288">
            <a:solidFill>
              <a:srgbClr val="B9C8D3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2100">
                <a:solidFill>
                  <a:srgbClr val="536678"/>
                </a:solidFill>
                <a:latin typeface="Lato"/>
                <a:ea typeface="Lato"/>
                <a:cs typeface="Lato"/>
              </a:rPr>
              <a:t>Espacio para tu captura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F5D9B-B5F8-40CD-9B7E-C72ECEBD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76925"/>
            <a:ext cx="518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Pantalla de login del personal de seguridad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20D3B-A9D8-4C91-A507-EDDC6778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579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36678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536678"/>
                </a:solidFill>
                <a:latin typeface="Lato"/>
                <a:ea typeface="Lato"/>
                <a:cs typeface="Lato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1475601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2026-10-02T11:45:56.6590000Z</dcterms:created>
  <dcterms:modified xsi:type="dcterms:W3CDTF">2026-10-02T11:45:56.6590000Z</dcterms:modified>
</coreProperties>
</file>